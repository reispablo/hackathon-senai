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502920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0B58B7"/>
          </a:solidFill>
          <a:ln w="12700">
            <a:solidFill>
              <a:srgbClr val="108DFF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6751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6FBFF"/>
                </a:solidFill>
              </a:rPr>
              <a:t>SENAI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BFF"/>
                </a:solidFill>
              </a:rPr>
              <a:t>HACKATHON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40080" y="27066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8DFF"/>
                </a:solidFill>
              </a:rPr>
              <a:t>SENAI 2026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8368" y="340156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BFF"/>
                </a:solidFill>
              </a:rPr>
              <a:t>Conectando clientes e profissionais do setor automotivo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498080" y="1078992"/>
            <a:ext cx="3977640" cy="4160520"/>
          </a:xfrm>
          <a:prstGeom prst="roundRect">
            <a:avLst>
              <a:gd name="adj" fmla="val 1839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FF7417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62672" y="1225296"/>
            <a:ext cx="3648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7417"/>
                </a:solidFill>
              </a:rPr>
              <a:t>Proposta para aprovação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7662672" y="1609344"/>
            <a:ext cx="3648456" cy="3502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Evento de 8 horas para estudantes de Tecnologia da Informação, com desenvolvimento de solução digital aplicada a uma necessidade real do mercado automotivo.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7818120" y="47091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D2EB"/>
                </a:solidFill>
              </a:rPr>
              <a:t>Gerência / Supervisão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Contexto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Oportunidade real de mercado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444752"/>
            <a:ext cx="10424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Clientes têm dificuldade para encontrar profissionais automotivos confiáveis e disponíveis.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Profissionais precisam de canais mais simples para divulgar serviços e conquistar clientes.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O tema permite aos estudantes desenvolver uma solução próxima da realidade do mercado.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A proposta conecta tecnologia, inovação, experiência do usuário e regras de negócio.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Proposta do Evento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Hackathon de 8 horas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444752"/>
            <a:ext cx="10424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Realizar um desafio prático com estudantes de Tecnologia da Informação do SENAI.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As equipes deverão planejar, prototipar, desenvolver, documentar e apresentar uma solução.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O produto final deve conectar clientes e profissionais do setor automotivo.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A dinâmica simula pressão de prazo, colaboração e tomada de decisão presentes no mercado.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Intenção Pedagógica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Aprendizagem prática orientada a resultado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444752"/>
            <a:ext cx="10424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Estimular protagonismo, criatividade e resolução de problemas reais.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Fortalecer competências técnicas em front-end, back-end, banco de dados e documentação.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Desenvolver comunicação, colaboração, organização e apresentação de solução.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Integrar conteúdos trabalhados em sala em uma experiência aplicada.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Justificativa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Por que realizar o 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444752"/>
            <a:ext cx="10424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A atividade amplia o engajamento dos alunos por meio de um desafio concreto e mensurável.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O tema automotivo é acessível, relevante e permite diferentes níveis de solução.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O formato favorece avaliação integrada de competências técnicas e comportamentais.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A proposta reforça a relação entre formação profissional, inovação e necessidade de mercado.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Objetivo e Escopo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O que as equipes deverão construir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298448"/>
            <a:ext cx="5349240" cy="4389120"/>
          </a:xfrm>
          <a:prstGeom prst="roundRect">
            <a:avLst>
              <a:gd name="adj" fmla="val 1667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FF7417">
                <a:alpha val="5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444752"/>
            <a:ext cx="502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7417"/>
                </a:solidFill>
              </a:rPr>
              <a:t>Objetivo Geral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896112" y="1828800"/>
            <a:ext cx="5020056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Desenvolver uma solução tecnológica inovadora que conecte clientes e profissionais do setor automotivo de maneira prática, rápida e confiável.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6309360" y="1298448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44475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Escopo mínimo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6473952" y="1828800"/>
            <a:ext cx="4791456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Nome do projeto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Objetivo, tema e justificativa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Público atendido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Funcionalidades principais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Regras de negócio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Estrutura básica do banco de dados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Tecnologias utilizadas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Formato e Organização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Estrutura operacional proposta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261872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40817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Duração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896112" y="1792224"/>
            <a:ext cx="223113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8 horas de evento, incluindo abertura, modelagem, desenvolvimento, preparação do pitch e avaliação.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3493008" y="1261872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40817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Equipes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3657600" y="1792224"/>
            <a:ext cx="223113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Equipes pré-definidas, com quantidade de membros definida pela organização.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254496" y="1261872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9088" y="140817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Público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6419088" y="1792224"/>
            <a:ext cx="223113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Estudantes de Tecnologia da Informação do SENAI.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9015984" y="1261872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0576" y="1408176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Entrega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9180576" y="1792224"/>
            <a:ext cx="223113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Sistema funcionando, documentação, código organizado e pitch final.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31520" y="3273552"/>
            <a:ext cx="10844784" cy="1536192"/>
          </a:xfrm>
          <a:prstGeom prst="roundRect">
            <a:avLst>
              <a:gd name="adj" fmla="val 4762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FF7417">
                <a:alpha val="5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419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7417"/>
                </a:solidFill>
              </a:rPr>
              <a:t>Condução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896112" y="3803904"/>
            <a:ext cx="1051560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O evento será orientado por regras claras, controle de tempo, momentos de avaliação e acompanhamento das entregas previstas.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Cronograma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Distribuição das atividades no dia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13385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08:00 - 08:20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2651760" y="113385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Abertura e apresentação do desafio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68680" y="1399032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4721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08:20 - 10:20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2651760" y="1472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Modelagem e prototipagem em papel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868680" y="1737360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18105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10:20 - 10:35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2651760" y="181051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Coffee break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868680" y="2075688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148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10:35 - 11:15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2651760" y="214884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Início do desenvolvimento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868680" y="2414016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248716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FF7417"/>
                </a:solidFill>
              </a:rPr>
              <a:t>11:15 - 11:25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2651760" y="248716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Janela IA #1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868680" y="2752344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28254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FF7417"/>
                </a:solidFill>
              </a:rPr>
              <a:t>11:25 - 12:05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2651760" y="28254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Desenvolvimento sem IA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68680" y="3090672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31638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FF7417"/>
                </a:solidFill>
              </a:rPr>
              <a:t>12:05 - 12:15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2651760" y="316382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Janela IA #2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868680" y="3429000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35021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12:15 - 12:30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2651760" y="35021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Desenvolvimento e ajustes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868680" y="3767328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12:30 - 13:10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>
            <a:off x="2651760" y="384048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Almoço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868680" y="4105656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417880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13:10 - 13:40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2651760" y="417880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Retomada do desenvolvimento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868680" y="4443984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8680" y="45171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FF7417"/>
                </a:solidFill>
              </a:rPr>
              <a:t>13:40 - 13:50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2651760" y="451713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Janela IA #3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868680" y="4782312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8680" y="48554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13:50 - 14:15</a:t>
            </a:r>
            <a:endParaRPr lang="en-US" sz="930" dirty="0"/>
          </a:p>
        </p:txBody>
      </p:sp>
      <p:sp>
        <p:nvSpPr>
          <p:cNvPr id="43" name="Text 41"/>
          <p:cNvSpPr/>
          <p:nvPr/>
        </p:nvSpPr>
        <p:spPr>
          <a:xfrm>
            <a:off x="2651760" y="485546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Correções e integração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868680" y="5120640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51937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FF7417"/>
                </a:solidFill>
              </a:rPr>
              <a:t>14:15 - 14:25</a:t>
            </a:r>
            <a:endParaRPr lang="en-US" sz="930" dirty="0"/>
          </a:p>
        </p:txBody>
      </p:sp>
      <p:sp>
        <p:nvSpPr>
          <p:cNvPr id="46" name="Text 44"/>
          <p:cNvSpPr/>
          <p:nvPr/>
        </p:nvSpPr>
        <p:spPr>
          <a:xfrm>
            <a:off x="2651760" y="519379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Janela IA #4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868680" y="5458968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8680" y="5532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14:25 - 14:35</a:t>
            </a:r>
            <a:endParaRPr lang="en-US" sz="930" dirty="0"/>
          </a:p>
        </p:txBody>
      </p:sp>
      <p:sp>
        <p:nvSpPr>
          <p:cNvPr id="49" name="Text 47"/>
          <p:cNvSpPr/>
          <p:nvPr/>
        </p:nvSpPr>
        <p:spPr>
          <a:xfrm>
            <a:off x="2651760" y="55321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Fechamento da Fase 2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868680" y="5797296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68680" y="58704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14:35 - 15:00</a:t>
            </a:r>
            <a:endParaRPr lang="en-US" sz="930" dirty="0"/>
          </a:p>
        </p:txBody>
      </p:sp>
      <p:sp>
        <p:nvSpPr>
          <p:cNvPr id="52" name="Text 50"/>
          <p:cNvSpPr/>
          <p:nvPr/>
        </p:nvSpPr>
        <p:spPr>
          <a:xfrm>
            <a:off x="2651760" y="58704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Preparação do pitch</a:t>
            </a:r>
            <a:endParaRPr lang="en-US" sz="980" dirty="0"/>
          </a:p>
        </p:txBody>
      </p:sp>
      <p:sp>
        <p:nvSpPr>
          <p:cNvPr id="53" name="Shape 51"/>
          <p:cNvSpPr/>
          <p:nvPr/>
        </p:nvSpPr>
        <p:spPr>
          <a:xfrm>
            <a:off x="868680" y="6135624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68680" y="620877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08DFF"/>
                </a:solidFill>
              </a:rPr>
              <a:t>15:00 - 16:00</a:t>
            </a:r>
            <a:endParaRPr lang="en-US" sz="930" dirty="0"/>
          </a:p>
        </p:txBody>
      </p:sp>
      <p:sp>
        <p:nvSpPr>
          <p:cNvPr id="55" name="Text 53"/>
          <p:cNvSpPr/>
          <p:nvPr/>
        </p:nvSpPr>
        <p:spPr>
          <a:xfrm>
            <a:off x="2651760" y="620877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6FBFF"/>
                </a:solidFill>
              </a:rPr>
              <a:t>Pitch e avaliação final</a:t>
            </a:r>
            <a:endParaRPr lang="en-US" sz="980" dirty="0"/>
          </a:p>
        </p:txBody>
      </p:sp>
      <p:sp>
        <p:nvSpPr>
          <p:cNvPr id="56" name="Shape 54"/>
          <p:cNvSpPr/>
          <p:nvPr/>
        </p:nvSpPr>
        <p:spPr>
          <a:xfrm>
            <a:off x="868680" y="6473952"/>
            <a:ext cx="10012680" cy="0"/>
          </a:xfrm>
          <a:prstGeom prst="line">
            <a:avLst/>
          </a:prstGeom>
          <a:noFill/>
          <a:ln w="12700">
            <a:solidFill>
              <a:srgbClr val="1B6FB8">
                <a:alpha val="26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Uso de Inteligência Artificial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Uso controlado e consciente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444752"/>
            <a:ext cx="10424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A IA será permitida apenas em quatro janelas de 10 minutos.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Janelas previstas: 11:15, 12:05, 13:40 e 14:15.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Fora desses períodos, o uso de IA não será permitido.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A regra incentiva pensamento crítico, autoria, planejamento e uso responsável da tecnologia.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Tecnologias Permitidas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Flexibilidade com governança técnica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261872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1408176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Front-end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941832" y="1792224"/>
            <a:ext cx="2276856" cy="2907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HTML / CSS / JS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React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Vue.js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.NET Blazor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Outra aprovada previamente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3611880" y="1261872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76472" y="1408176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Back-end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3776472" y="1792224"/>
            <a:ext cx="2276856" cy="2907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Node.js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PHP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Python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Java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.NET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446520" y="1261872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11112" y="1408176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Banco de Dados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6611112" y="1792224"/>
            <a:ext cx="2276856" cy="2907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SQLite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PostgreSQL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MySQL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MariaDB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SQL Server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9281160" y="1261872"/>
            <a:ext cx="2148840" cy="3566160"/>
          </a:xfrm>
          <a:prstGeom prst="roundRect">
            <a:avLst>
              <a:gd name="adj" fmla="val 3404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FF7417">
                <a:alpha val="5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45752" y="1408176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7417"/>
                </a:solidFill>
              </a:rPr>
              <a:t>Ambiente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9445752" y="1792224"/>
            <a:ext cx="1819656" cy="2907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Docker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XAMPP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Ambiente local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Entregáveis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Evidências ao final do evento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298448"/>
            <a:ext cx="2468880" cy="3063240"/>
          </a:xfrm>
          <a:prstGeom prst="roundRect">
            <a:avLst>
              <a:gd name="adj" fmla="val 2963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144475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Protótipo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941832" y="1828800"/>
            <a:ext cx="2139696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Fluxos, regras e modelagem em papel.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3429000" y="1298448"/>
            <a:ext cx="2468880" cy="3063240"/>
          </a:xfrm>
          <a:prstGeom prst="roundRect">
            <a:avLst>
              <a:gd name="adj" fmla="val 2963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93592" y="144475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Sistema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3593592" y="1828800"/>
            <a:ext cx="2139696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Solução funcionando com front-end, back-end, banco e regras.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080760" y="1298448"/>
            <a:ext cx="2468880" cy="3063240"/>
          </a:xfrm>
          <a:prstGeom prst="roundRect">
            <a:avLst>
              <a:gd name="adj" fmla="val 2963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108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45352" y="144475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8DFF"/>
                </a:solidFill>
              </a:rPr>
              <a:t>Código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6245352" y="1828800"/>
            <a:ext cx="2139696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Repositório organizado, documentação e README.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732520" y="1298448"/>
            <a:ext cx="2468880" cy="3063240"/>
          </a:xfrm>
          <a:prstGeom prst="roundRect">
            <a:avLst>
              <a:gd name="adj" fmla="val 2963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FF7417">
                <a:alpha val="5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97112" y="144475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7417"/>
                </a:solidFill>
              </a:rPr>
              <a:t>Pitch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8897112" y="1828800"/>
            <a:ext cx="2139696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Apresentação objetiva com duração de até 8 minutos.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Critérios de Avaliação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Total de 100 pontos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2984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Entendimento do problema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3886200" y="1444752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83480" y="1243584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307592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10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20116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Qualidade da modelagem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3886200" y="2157984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83480" y="1956816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2020824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15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27249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Regras de negócio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3886200" y="2871216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83480" y="2670048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27340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" y="34381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Banco de dados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3886200" y="3584448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83480" y="3383280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344728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10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" y="415137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Front-end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3886200" y="4297680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83480" y="4096512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416052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36208" y="12984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Back-end</a:t>
            </a:r>
            <a:endParaRPr lang="en-US" sz="1230" dirty="0"/>
          </a:p>
        </p:txBody>
      </p:sp>
      <p:sp>
        <p:nvSpPr>
          <p:cNvPr id="30" name="Shape 28"/>
          <p:cNvSpPr/>
          <p:nvPr/>
        </p:nvSpPr>
        <p:spPr>
          <a:xfrm>
            <a:off x="9253728" y="1444752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51008" y="1243584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51008" y="1307592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15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36208" y="20116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Organização do código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9253728" y="2157984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51008" y="1956816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51008" y="2020824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36208" y="27249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Uso inteligente da IA</a:t>
            </a:r>
            <a:endParaRPr lang="en-US" sz="1230" dirty="0"/>
          </a:p>
        </p:txBody>
      </p:sp>
      <p:sp>
        <p:nvSpPr>
          <p:cNvPr id="38" name="Shape 36"/>
          <p:cNvSpPr/>
          <p:nvPr/>
        </p:nvSpPr>
        <p:spPr>
          <a:xfrm>
            <a:off x="9253728" y="2871216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51008" y="2670048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51008" y="273405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5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36208" y="34381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F6FBFF"/>
                </a:solidFill>
              </a:rPr>
              <a:t>Pitch</a:t>
            </a:r>
            <a:endParaRPr lang="en-US" sz="1230" dirty="0"/>
          </a:p>
        </p:txBody>
      </p:sp>
      <p:sp>
        <p:nvSpPr>
          <p:cNvPr id="42" name="Shape 40"/>
          <p:cNvSpPr/>
          <p:nvPr/>
        </p:nvSpPr>
        <p:spPr>
          <a:xfrm>
            <a:off x="9253728" y="3584448"/>
            <a:ext cx="1005840" cy="0"/>
          </a:xfrm>
          <a:prstGeom prst="line">
            <a:avLst/>
          </a:prstGeom>
          <a:noFill/>
          <a:ln w="12700">
            <a:solidFill>
              <a:srgbClr val="1B6FB8">
                <a:alpha val="6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351008" y="3383280"/>
            <a:ext cx="411480" cy="310896"/>
          </a:xfrm>
          <a:prstGeom prst="roundRect">
            <a:avLst>
              <a:gd name="adj" fmla="val 11765"/>
            </a:avLst>
          </a:prstGeom>
          <a:solidFill>
            <a:srgbClr val="108DFF"/>
          </a:solidFill>
          <a:ln w="12700">
            <a:solidFill>
              <a:srgbClr val="108D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51008" y="344728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FBFF"/>
                </a:solidFill>
              </a:rPr>
              <a:t>10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Benefícios Esperados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Resultados para alunos e instituição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444752"/>
            <a:ext cx="10424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Maior engajamento dos estudantes em atividades práticas.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Integração de conhecimentos técnicos em uma entrega única.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Desenvolvimento de competências profissionais valorizadas pelo mercado.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Geração de projetos demonstráveis para portfólio e avaliação.</a:t>
            </a:r>
            <a:endParaRPr lang="en-US" sz="1700" dirty="0"/>
          </a:p>
          <a:p>
            <a:pPr marL="165100" indent="-165100">
              <a:buSzPct val="100000"/>
              <a:buChar char="•"/>
            </a:pPr>
            <a:r>
              <a:rPr lang="en-US" sz="1700" dirty="0">
                <a:solidFill>
                  <a:srgbClr val="F6FBFF"/>
                </a:solidFill>
              </a:rPr>
              <a:t>Fortalecimento da cultura de inovação no ambiente educacional.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2"/>
          </a:solidFill>
          <a:ln w="12700">
            <a:solidFill>
              <a:srgbClr val="02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152A">
              <a:alpha val="88000"/>
            </a:srgbClr>
          </a:solidFill>
          <a:ln w="12700">
            <a:solidFill>
              <a:srgbClr val="03152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005840"/>
            <a:ext cx="4389120" cy="4389120"/>
          </a:xfrm>
          <a:prstGeom prst="arc">
            <a:avLst/>
          </a:prstGeom>
          <a:noFill/>
          <a:ln w="15240">
            <a:solidFill>
              <a:srgbClr val="108DFF">
                <a:alpha val="6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1B6FB8">
                <a:alpha val="4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8404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6FBFF"/>
                </a:solidFill>
              </a:rPr>
              <a:t>Solicitação de Aprovação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850392"/>
            <a:ext cx="868680" cy="0"/>
          </a:xfrm>
          <a:prstGeom prst="line">
            <a:avLst/>
          </a:prstGeom>
          <a:noFill/>
          <a:ln w="25400">
            <a:solidFill>
              <a:srgbClr val="10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731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2EB"/>
                </a:solidFill>
              </a:rPr>
              <a:t>Encaminhamento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41732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6FBFF"/>
                </a:solidFill>
              </a:rPr>
              <a:t>Solicita-se a aprovação da gerência/supervisão para a realização do Hackathon SENAI 2026.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60120" y="2423160"/>
            <a:ext cx="9738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B9D2EB"/>
                </a:solidFill>
              </a:rPr>
              <a:t>A proposta está alinhada à formação prática dos estudantes, ao desenvolvimento de competências técnicas e profissionais e ao incentivo à inovação aplicada a uma necessidade real de mercado.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60120" y="425196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06203F">
              <a:alpha val="96000"/>
            </a:srgbClr>
          </a:solidFill>
          <a:ln w="12700">
            <a:solidFill>
              <a:srgbClr val="FF7417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4712" y="4398264"/>
            <a:ext cx="9683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7417"/>
                </a:solidFill>
              </a:rPr>
              <a:t>Próximo passo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1124712" y="4782312"/>
            <a:ext cx="9683496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6FBFF"/>
                </a:solidFill>
              </a:rPr>
              <a:t>Validação da proposta, definição da data, confirmação das equipes e alinhamento dos recursos necessários.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594360" y="6473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9D2EB"/>
                </a:solidFill>
              </a:rPr>
              <a:t>Hackathon SENAI 2026 | Proposta para aprovação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SENAI 2026</dc:title>
  <dc:subject>Proposta para aprovação do Hackathon SENAI 2026</dc:subject>
  <dc:creator>SENAI</dc:creator>
  <cp:lastModifiedBy>SENAI</cp:lastModifiedBy>
  <cp:revision>1</cp:revision>
  <dcterms:created xsi:type="dcterms:W3CDTF">2026-07-21T23:36:02Z</dcterms:created>
  <dcterms:modified xsi:type="dcterms:W3CDTF">2026-07-21T23:36:02Z</dcterms:modified>
</cp:coreProperties>
</file>